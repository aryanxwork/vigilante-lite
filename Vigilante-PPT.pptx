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image" Target="../media/image-4-4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_light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94560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31920" y="224028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spc="700" kern="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VIGILANTE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3977640" y="3200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Email Prioritization System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005072" y="3913632"/>
            <a:ext cx="685800" cy="18288"/>
          </a:xfrm>
          <a:prstGeom prst="rect">
            <a:avLst/>
          </a:prstGeom>
          <a:solidFill>
            <a:srgbClr val="8FB0F0"/>
          </a:solidFill>
          <a:ln/>
        </p:spPr>
      </p:sp>
      <p:sp>
        <p:nvSpPr>
          <p:cNvPr id="6" name="Text 3"/>
          <p:cNvSpPr/>
          <p:nvPr/>
        </p:nvSpPr>
        <p:spPr>
          <a:xfrm>
            <a:off x="397764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4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learns what matters in your inbox.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5852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Sharma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algn="l" indent="0" marL="0">
              <a:buNone/>
            </a:pPr>
            <a:r>
              <a:rPr lang="en-US" sz="14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Maithli Arora</a:t>
            </a:r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pPr algn="l" indent="0" marL="0">
              <a:buNone/>
            </a:pPr>
            <a:r>
              <a:rPr lang="en-US" sz="14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Tushar Sharma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61996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4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UCS503P      Thapar Institute of Engineering and Technology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241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mail gets buried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inbox is dominated by low-value mail, while the messages that actually matter are a small minority lost in the noise.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3337560"/>
            <a:ext cx="5669280" cy="841248"/>
          </a:xfrm>
          <a:prstGeom prst="roundRect">
            <a:avLst>
              <a:gd name="adj" fmla="val 13043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circle_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3474720"/>
            <a:ext cx="566928" cy="566928"/>
          </a:xfrm>
          <a:prstGeom prst="rect">
            <a:avLst/>
          </a:prstGeom>
        </p:spPr>
      </p:pic>
      <p:pic>
        <p:nvPicPr>
          <p:cNvPr id="7" name="Image 1" descr="ri_m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96" y="3616452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5960" y="34930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965960" y="3794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content you rarely open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914400" y="4297680"/>
            <a:ext cx="5669280" cy="841248"/>
          </a:xfrm>
          <a:prstGeom prst="roundRect">
            <a:avLst>
              <a:gd name="adj" fmla="val 13043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2" descr="circle_so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4434840"/>
            <a:ext cx="566928" cy="566928"/>
          </a:xfrm>
          <a:prstGeom prst="rect">
            <a:avLst/>
          </a:prstGeom>
        </p:spPr>
      </p:pic>
      <p:pic>
        <p:nvPicPr>
          <p:cNvPr id="12" name="Image 3" descr="ri_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596" y="4576572"/>
            <a:ext cx="283464" cy="2834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65960" y="44531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965960" y="4754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marketing blasts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914400" y="5257800"/>
            <a:ext cx="5669280" cy="841248"/>
          </a:xfrm>
          <a:prstGeom prst="roundRect">
            <a:avLst>
              <a:gd name="adj" fmla="val 13043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6" name="Image 4" descr="circle_so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5394960"/>
            <a:ext cx="566928" cy="566928"/>
          </a:xfrm>
          <a:prstGeom prst="rect">
            <a:avLst/>
          </a:prstGeom>
        </p:spPr>
      </p:pic>
      <p:pic>
        <p:nvPicPr>
          <p:cNvPr id="17" name="Image 5" descr="ri_bel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9596" y="5536692"/>
            <a:ext cx="283464" cy="28346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965960" y="54132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1965960" y="5715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low-priority alerts</a:t>
            </a:r>
            <a:endParaRPr lang="en-US" sz="1250" dirty="0"/>
          </a:p>
        </p:txBody>
      </p:sp>
      <p:sp>
        <p:nvSpPr>
          <p:cNvPr id="20" name="Shape 12"/>
          <p:cNvSpPr/>
          <p:nvPr/>
        </p:nvSpPr>
        <p:spPr>
          <a:xfrm>
            <a:off x="7086600" y="1965960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21" name="Image 6" descr="circle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8624" y="2249424"/>
            <a:ext cx="713232" cy="713232"/>
          </a:xfrm>
          <a:prstGeom prst="rect">
            <a:avLst/>
          </a:prstGeom>
        </p:spPr>
      </p:pic>
      <p:pic>
        <p:nvPicPr>
          <p:cNvPr id="22" name="Image 7" descr="ri_us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932" y="2427732"/>
            <a:ext cx="356616" cy="35661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3609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spc="2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gap</a:t>
            </a:r>
            <a:endParaRPr lang="en-US" sz="1250" dirty="0"/>
          </a:p>
        </p:txBody>
      </p:sp>
      <p:sp>
        <p:nvSpPr>
          <p:cNvPr id="24" name="Text 14"/>
          <p:cNvSpPr/>
          <p:nvPr/>
        </p:nvSpPr>
        <p:spPr>
          <a:xfrm>
            <a:off x="7360920" y="35204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filters can't learn what matters to you.</a:t>
            </a:r>
            <a:endParaRPr lang="en-US" sz="2200" dirty="0"/>
          </a:p>
        </p:txBody>
      </p:sp>
      <p:sp>
        <p:nvSpPr>
          <p:cNvPr id="25" name="Text 15"/>
          <p:cNvSpPr/>
          <p:nvPr/>
        </p:nvSpPr>
        <p:spPr>
          <a:xfrm>
            <a:off x="7360920" y="48920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is personal — and it changes over time. A fixed rule set can't keep up.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241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existing filters fall short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circle_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432304"/>
            <a:ext cx="713232" cy="713232"/>
          </a:xfrm>
          <a:prstGeom prst="rect">
            <a:avLst/>
          </a:prstGeom>
        </p:spPr>
      </p:pic>
      <p:pic>
        <p:nvPicPr>
          <p:cNvPr id="6" name="Image 1" descr="ri_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892" y="2610612"/>
            <a:ext cx="356616" cy="3566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9000" y="2450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353B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280160" y="3429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280160" y="39319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rules apply the same logic to everyone, ignoring individual priorities.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370832" y="21945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2" descr="circle_so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432304"/>
            <a:ext cx="713232" cy="713232"/>
          </a:xfrm>
          <a:prstGeom prst="rect">
            <a:avLst/>
          </a:prstGeom>
        </p:spPr>
      </p:pic>
      <p:pic>
        <p:nvPicPr>
          <p:cNvPr id="12" name="Image 3" descr="ri_mai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2610612"/>
            <a:ext cx="356616" cy="3566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85432" y="2450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353B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8"/>
          <p:cNvSpPr/>
          <p:nvPr/>
        </p:nvSpPr>
        <p:spPr>
          <a:xfrm>
            <a:off x="4736592" y="3429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on real mail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4736592" y="39319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code and a marketing blast can arrive from the same kind of address.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7827264" y="21945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4" descr="circle_so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2432304"/>
            <a:ext cx="713232" cy="713232"/>
          </a:xfrm>
          <a:prstGeom prst="rect">
            <a:avLst/>
          </a:prstGeom>
        </p:spPr>
      </p:pic>
      <p:pic>
        <p:nvPicPr>
          <p:cNvPr id="18" name="Image 5" descr="ri_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756" y="2610612"/>
            <a:ext cx="356616" cy="35661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341864" y="24505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353B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2"/>
          <p:cNvSpPr/>
          <p:nvPr/>
        </p:nvSpPr>
        <p:spPr>
          <a:xfrm>
            <a:off x="8193024" y="3429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8193024" y="393192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filters don't adapt as your priorities and contacts change.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8FB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Filters sort by pattern. People prioritize by context.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241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Vigilante learns your signal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 that connects to your inbox — read-only — and surfaces what's important to you, then keeps improving as you use 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3246120" cy="2514600"/>
          </a:xfrm>
          <a:prstGeom prst="roundRect">
            <a:avLst>
              <a:gd name="adj" fmla="val 4364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6" name="Image 0" descr="circl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36" y="3493008"/>
            <a:ext cx="841248" cy="841248"/>
          </a:xfrm>
          <a:prstGeom prst="rect">
            <a:avLst/>
          </a:prstGeom>
        </p:spPr>
      </p:pic>
      <p:pic>
        <p:nvPicPr>
          <p:cNvPr id="7" name="Image 1" descr="ri_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148" y="3703320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4526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143000" y="49834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link an inbox, read-only</a:t>
            </a:r>
            <a:endParaRPr lang="en-US" sz="1300" dirty="0"/>
          </a:p>
        </p:txBody>
      </p:sp>
      <p:pic>
        <p:nvPicPr>
          <p:cNvPr id="10" name="Image 2" descr="ri_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4206240"/>
            <a:ext cx="274320" cy="2743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370832" y="3200400"/>
            <a:ext cx="3246120" cy="2514600"/>
          </a:xfrm>
          <a:prstGeom prst="roundRect">
            <a:avLst>
              <a:gd name="adj" fmla="val 4364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2" name="Image 3" descr="circl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268" y="3493008"/>
            <a:ext cx="841248" cy="841248"/>
          </a:xfrm>
          <a:prstGeom prst="rect">
            <a:avLst/>
          </a:prstGeom>
        </p:spPr>
      </p:pic>
      <p:pic>
        <p:nvPicPr>
          <p:cNvPr id="13" name="Image 4" descr="ri_cpu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3703320"/>
            <a:ext cx="420624" cy="4206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53712" y="4526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4599432" y="49834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email by importance</a:t>
            </a:r>
            <a:endParaRPr lang="en-US" sz="1300" dirty="0"/>
          </a:p>
        </p:txBody>
      </p:sp>
      <p:pic>
        <p:nvPicPr>
          <p:cNvPr id="16" name="Image 5" descr="ri_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4344" y="4206240"/>
            <a:ext cx="274320" cy="27432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827264" y="3200400"/>
            <a:ext cx="3246120" cy="2514600"/>
          </a:xfrm>
          <a:prstGeom prst="roundRect">
            <a:avLst>
              <a:gd name="adj" fmla="val 4364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8" name="Image 6" descr="circle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3493008"/>
            <a:ext cx="841248" cy="841248"/>
          </a:xfrm>
          <a:prstGeom prst="rect">
            <a:avLst/>
          </a:prstGeom>
        </p:spPr>
      </p:pic>
      <p:pic>
        <p:nvPicPr>
          <p:cNvPr id="19" name="Image 7" descr="ri_trendingU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0012" y="3703320"/>
            <a:ext cx="420624" cy="42062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8010144" y="4526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</a:t>
            </a:r>
            <a:endParaRPr lang="en-US" sz="1900" dirty="0"/>
          </a:p>
        </p:txBody>
      </p:sp>
      <p:sp>
        <p:nvSpPr>
          <p:cNvPr id="21" name="Text 11"/>
          <p:cNvSpPr/>
          <p:nvPr/>
        </p:nvSpPr>
        <p:spPr>
          <a:xfrm>
            <a:off x="8055864" y="49834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your behavior over time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241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loop that gets smarter with use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2487168" cy="3429000"/>
          </a:xfrm>
          <a:prstGeom prst="roundRect">
            <a:avLst>
              <a:gd name="adj" fmla="val 4412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5" name="Image 0" descr="circle_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596896"/>
            <a:ext cx="658368" cy="658368"/>
          </a:xfrm>
          <a:prstGeom prst="rect">
            <a:avLst/>
          </a:prstGeom>
        </p:spPr>
      </p:pic>
      <p:pic>
        <p:nvPicPr>
          <p:cNvPr id="6" name="Image 1" descr="ri_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2761488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06040" y="2697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353B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207008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connection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207008" y="42062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OAuth link to the inbox. No password is ever shared.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566160" y="2331720"/>
            <a:ext cx="2487168" cy="3429000"/>
          </a:xfrm>
          <a:prstGeom prst="roundRect">
            <a:avLst>
              <a:gd name="adj" fmla="val 4412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2" descr="circle_so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2596896"/>
            <a:ext cx="658368" cy="658368"/>
          </a:xfrm>
          <a:prstGeom prst="rect">
            <a:avLst/>
          </a:prstGeom>
        </p:spPr>
      </p:pic>
      <p:pic>
        <p:nvPicPr>
          <p:cNvPr id="12" name="Image 3" descr="ri_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936" y="2761488"/>
            <a:ext cx="329184" cy="3291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57800" y="2697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353B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3858768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scores mail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3858768" y="42062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classifier rates each email as important or not.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217920" y="2331720"/>
            <a:ext cx="2487168" cy="3429000"/>
          </a:xfrm>
          <a:prstGeom prst="roundRect">
            <a:avLst>
              <a:gd name="adj" fmla="val 4412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7" name="Image 4" descr="circle_sof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2596896"/>
            <a:ext cx="658368" cy="658368"/>
          </a:xfrm>
          <a:prstGeom prst="rect">
            <a:avLst/>
          </a:prstGeom>
        </p:spPr>
      </p:pic>
      <p:pic>
        <p:nvPicPr>
          <p:cNvPr id="18" name="Image 5" descr="ri_inbo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1696" y="2761488"/>
            <a:ext cx="329184" cy="3291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909560" y="2697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353B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6510528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surfaced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6510528" y="42062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mail rises; low-value mail is quietly de-emphasized.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8869680" y="2331720"/>
            <a:ext cx="2487168" cy="3429000"/>
          </a:xfrm>
          <a:prstGeom prst="roundRect">
            <a:avLst>
              <a:gd name="adj" fmla="val 4412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23" name="Image 6" descr="circle_sof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8864" y="2596896"/>
            <a:ext cx="658368" cy="658368"/>
          </a:xfrm>
          <a:prstGeom prst="rect">
            <a:avLst/>
          </a:prstGeom>
        </p:spPr>
      </p:pic>
      <p:pic>
        <p:nvPicPr>
          <p:cNvPr id="24" name="Image 7" descr="ri_trendingU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456" y="2761488"/>
            <a:ext cx="329184" cy="32918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561320" y="26974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353B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9162288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over time</a:t>
            </a:r>
            <a:endParaRPr lang="en-US" sz="1550" dirty="0"/>
          </a:p>
        </p:txBody>
      </p:sp>
      <p:sp>
        <p:nvSpPr>
          <p:cNvPr id="27" name="Text 17"/>
          <p:cNvSpPr/>
          <p:nvPr/>
        </p:nvSpPr>
        <p:spPr>
          <a:xfrm>
            <a:off x="9162288" y="42062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interactions refine future scores to fit your priorities.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241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layers, one evolving score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240280"/>
            <a:ext cx="5029200" cy="2697480"/>
          </a:xfrm>
          <a:prstGeom prst="roundRect">
            <a:avLst>
              <a:gd name="adj" fmla="val 4068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    COLD START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23444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classifier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34290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logistic-regression model over engineered features plus TF-IDF on subject lines. Gives a sensible first judgement for any new user.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40280"/>
            <a:ext cx="5029200" cy="2697480"/>
          </a:xfrm>
          <a:prstGeom prst="roundRect">
            <a:avLst>
              <a:gd name="adj" fmla="val 4068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    PER USER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3796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Personalization layer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37960" y="34290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online-learning component adapts scores from each user's behavior — capturing what a static model never could.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5138928"/>
            <a:ext cx="10332720" cy="960120"/>
          </a:xfrm>
          <a:prstGeom prst="roundRect">
            <a:avLst>
              <a:gd name="adj" fmla="val 11429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0" descr="circle_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5303520"/>
            <a:ext cx="621792" cy="621792"/>
          </a:xfrm>
          <a:prstGeom prst="rect">
            <a:avLst/>
          </a:prstGeom>
        </p:spPr>
      </p:pic>
      <p:pic>
        <p:nvPicPr>
          <p:cNvPr id="14" name="Image 1" descr="ri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545896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11680" y="53309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3-tier web architecture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011680" y="5669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API · Database</a:t>
            </a:r>
            <a:endParaRPr lang="en-US" sz="1200" dirty="0"/>
          </a:p>
        </p:txBody>
      </p:sp>
      <p:pic>
        <p:nvPicPr>
          <p:cNvPr id="17" name="Image 2" descr="circle_so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5303520"/>
            <a:ext cx="621792" cy="621792"/>
          </a:xfrm>
          <a:prstGeom prst="rect">
            <a:avLst/>
          </a:prstGeom>
        </p:spPr>
      </p:pic>
      <p:pic>
        <p:nvPicPr>
          <p:cNvPr id="18" name="Image 3" descr="ri_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545896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5330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+ OAuth 2.0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178040" y="5669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token-based access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241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on real inboxes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240280"/>
            <a:ext cx="3566160" cy="3611880"/>
          </a:xfrm>
          <a:prstGeom prst="roundRect">
            <a:avLst>
              <a:gd name="adj" fmla="val 3077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78892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8FB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85%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43000" y="3977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64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4315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Important-class recall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846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mail that matters do we correctly surface?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2240280"/>
            <a:ext cx="6583680" cy="1691640"/>
          </a:xfrm>
          <a:prstGeom prst="roundRect">
            <a:avLst>
              <a:gd name="adj" fmla="val 6486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circle_s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724912"/>
            <a:ext cx="713232" cy="713232"/>
          </a:xfrm>
          <a:prstGeom prst="rect">
            <a:avLst/>
          </a:prstGeom>
        </p:spPr>
      </p:pic>
      <p:pic>
        <p:nvPicPr>
          <p:cNvPr id="11" name="Image 1" descr="ri_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372" y="2903220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26243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126480" y="3108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surfaced mail is actually useful — keeping false alarms low.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709160" y="4160520"/>
            <a:ext cx="6583680" cy="1691640"/>
          </a:xfrm>
          <a:prstGeom prst="roundRect">
            <a:avLst>
              <a:gd name="adj" fmla="val 6486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2" descr="circle_sof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4645152"/>
            <a:ext cx="713232" cy="713232"/>
          </a:xfrm>
          <a:prstGeom prst="rect">
            <a:avLst/>
          </a:prstGeom>
        </p:spPr>
      </p:pic>
      <p:pic>
        <p:nvPicPr>
          <p:cNvPr id="16" name="Image 3" descr="ri_trending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2372" y="4823460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6480" y="4544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Personalization gain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6126480" y="50292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each inbox measurably improve after the model adapts to the user?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4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10241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focused first release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14400" y="224028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8F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  INITIAL DELIVERABLE</a:t>
            </a:r>
            <a:endParaRPr lang="en-US" sz="1150" dirty="0"/>
          </a:p>
        </p:txBody>
      </p:sp>
      <p:pic>
        <p:nvPicPr>
          <p:cNvPr id="6" name="Image 0" descr="ri_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9992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953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inbox connection</a:t>
            </a:r>
            <a:endParaRPr lang="en-US" sz="1500" dirty="0"/>
          </a:p>
        </p:txBody>
      </p:sp>
      <p:pic>
        <p:nvPicPr>
          <p:cNvPr id="8" name="Image 1" descr="ri_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52958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34838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classification</a:t>
            </a:r>
            <a:endParaRPr lang="en-US" sz="1500" dirty="0"/>
          </a:p>
        </p:txBody>
      </p:sp>
      <p:pic>
        <p:nvPicPr>
          <p:cNvPr id="10" name="Image 2" descr="ri_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05993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91640" y="4014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inbox view</a:t>
            </a:r>
            <a:endParaRPr lang="en-US" sz="1500" dirty="0"/>
          </a:p>
        </p:txBody>
      </p:sp>
      <p:pic>
        <p:nvPicPr>
          <p:cNvPr id="12" name="Image 3" descr="ri_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59028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9164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to staging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217920" y="224028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252932"/>
          </a:solidFill>
          <a:ln/>
          <a:effectLst>
            <a:outerShdw sx="100000" sy="100000" kx="0" ky="0" algn="bl" rotWithShape="0" blurRad="228600" dist="76200" dir="5400000">
              <a:srgbClr val="000000">
                <a:alpha val="28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537960" y="24871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64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  LATER ITERATIONS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583680" y="3044952"/>
            <a:ext cx="146304" cy="146304"/>
          </a:xfrm>
          <a:prstGeom prst="ellipse">
            <a:avLst/>
          </a:prstGeom>
          <a:solidFill>
            <a:srgbClr val="424A5C"/>
          </a:solidFill>
          <a:ln/>
        </p:spPr>
      </p:sp>
      <p:sp>
        <p:nvSpPr>
          <p:cNvPr id="17" name="Text 11"/>
          <p:cNvSpPr/>
          <p:nvPr/>
        </p:nvSpPr>
        <p:spPr>
          <a:xfrm>
            <a:off x="6949440" y="29535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layer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583680" y="3575304"/>
            <a:ext cx="146304" cy="146304"/>
          </a:xfrm>
          <a:prstGeom prst="ellipse">
            <a:avLst/>
          </a:prstGeom>
          <a:solidFill>
            <a:srgbClr val="424A5C"/>
          </a:solidFill>
          <a:ln/>
        </p:spPr>
      </p:sp>
      <p:sp>
        <p:nvSpPr>
          <p:cNvPr id="19" name="Text 13"/>
          <p:cNvSpPr/>
          <p:nvPr/>
        </p:nvSpPr>
        <p:spPr>
          <a:xfrm>
            <a:off x="6949440" y="34838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583680" y="4105656"/>
            <a:ext cx="146304" cy="146304"/>
          </a:xfrm>
          <a:prstGeom prst="ellipse">
            <a:avLst/>
          </a:prstGeom>
          <a:solidFill>
            <a:srgbClr val="424A5C"/>
          </a:solidFill>
          <a:ln/>
        </p:spPr>
      </p:sp>
      <p:sp>
        <p:nvSpPr>
          <p:cNvPr id="21" name="Text 15"/>
          <p:cNvSpPr/>
          <p:nvPr/>
        </p:nvSpPr>
        <p:spPr>
          <a:xfrm>
            <a:off x="6949440" y="4014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digests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583680" y="4636008"/>
            <a:ext cx="146304" cy="146304"/>
          </a:xfrm>
          <a:prstGeom prst="ellipse">
            <a:avLst/>
          </a:prstGeom>
          <a:solidFill>
            <a:srgbClr val="424A5C"/>
          </a:solidFill>
          <a:ln/>
        </p:spPr>
      </p:sp>
      <p:sp>
        <p:nvSpPr>
          <p:cNvPr id="23" name="Text 17"/>
          <p:cNvSpPr/>
          <p:nvPr/>
        </p:nvSpPr>
        <p:spPr>
          <a:xfrm>
            <a:off x="694944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Scale-readiness tuning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14400" y="57150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spc="100" kern="0" dirty="0">
                <a:solidFill>
                  <a:srgbClr val="EEF1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Connect.   Classify.   Personalize.</a:t>
            </a:r>
            <a:endParaRPr lang="en-US" sz="2300" dirty="0"/>
          </a:p>
        </p:txBody>
      </p:sp>
      <p:sp>
        <p:nvSpPr>
          <p:cNvPr id="25" name="Text 19"/>
          <p:cNvSpPr/>
          <p:nvPr/>
        </p:nvSpPr>
        <p:spPr>
          <a:xfrm>
            <a:off x="914400" y="629107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priority queue for every inbox.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2026-08-17T05:53:33Z</dcterms:created>
  <dcterms:modified xsi:type="dcterms:W3CDTF">2026-08-17T05:53:33Z</dcterms:modified>
</cp:coreProperties>
</file>